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70" r:id="rId5"/>
    <p:sldId id="259" r:id="rId6"/>
    <p:sldId id="269" r:id="rId7"/>
    <p:sldId id="261" r:id="rId8"/>
    <p:sldId id="264" r:id="rId9"/>
    <p:sldId id="273" r:id="rId10"/>
    <p:sldId id="262" r:id="rId11"/>
    <p:sldId id="274" r:id="rId12"/>
    <p:sldId id="275" r:id="rId13"/>
    <p:sldId id="272" r:id="rId14"/>
    <p:sldId id="276" r:id="rId15"/>
    <p:sldId id="263" r:id="rId16"/>
    <p:sldId id="265" r:id="rId17"/>
    <p:sldId id="266" r:id="rId18"/>
    <p:sldId id="277" r:id="rId19"/>
    <p:sldId id="267" r:id="rId20"/>
  </p:sldIdLst>
  <p:sldSz cx="1219200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5E1"/>
    <a:srgbClr val="A7B0BE"/>
    <a:srgbClr val="7C8695"/>
    <a:srgbClr val="0D9488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E8BD11-EDA1-43AA-A5CD-91A79EA6D864}">
  <a:tblStyle styleId="{09E8BD11-EDA1-43AA-A5CD-91A79EA6D86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277D76D9-CCC2-9DF6-2354-33354BC12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26F107C-0608-BBA7-BD4A-A14CDC450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4A0C5CF0-85FD-F47D-F61A-AD3E6F7412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3182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7C5C655-94B9-03A4-B032-12DC9AF6B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A02BE449-0932-08A9-106C-0922FCCF8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9385403E-71AB-F79A-4FA8-5BED0B4C1E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2582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9A772F4-799F-6770-0853-1CED4739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15FF4A22-2223-C4F5-9212-81A9B6825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E45FA2CD-FF2C-A8D8-00EB-12C3854E90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4965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0B81A6CA-0F2B-0C70-0B01-B1DE74839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>
            <a:extLst>
              <a:ext uri="{FF2B5EF4-FFF2-40B4-BE49-F238E27FC236}">
                <a16:creationId xmlns:a16="http://schemas.microsoft.com/office/drawing/2014/main" id="{514308D5-A92D-0F48-0AA2-0A3F0D2BE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>
            <a:extLst>
              <a:ext uri="{FF2B5EF4-FFF2-40B4-BE49-F238E27FC236}">
                <a16:creationId xmlns:a16="http://schemas.microsoft.com/office/drawing/2014/main" id="{254CE869-A655-B0BC-449C-64189B8964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21737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93EFD085-60F9-5D5B-DE00-FECE1A656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>
            <a:extLst>
              <a:ext uri="{FF2B5EF4-FFF2-40B4-BE49-F238E27FC236}">
                <a16:creationId xmlns:a16="http://schemas.microsoft.com/office/drawing/2014/main" id="{23B782C9-EB10-7580-1A9E-33F41439A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>
            <a:extLst>
              <a:ext uri="{FF2B5EF4-FFF2-40B4-BE49-F238E27FC236}">
                <a16:creationId xmlns:a16="http://schemas.microsoft.com/office/drawing/2014/main" id="{EC750D92-01BF-9F38-B063-B504F28AA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8146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E31167FC-A8BA-BE2A-0AEA-3A2BCE7BD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>
            <a:extLst>
              <a:ext uri="{FF2B5EF4-FFF2-40B4-BE49-F238E27FC236}">
                <a16:creationId xmlns:a16="http://schemas.microsoft.com/office/drawing/2014/main" id="{B419F8C4-93D8-050C-AC51-391DC23DCE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>
            <a:extLst>
              <a:ext uri="{FF2B5EF4-FFF2-40B4-BE49-F238E27FC236}">
                <a16:creationId xmlns:a16="http://schemas.microsoft.com/office/drawing/2014/main" id="{2F7D204F-E354-479E-DA56-BED2B20DCB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9256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3E504B65-D127-B474-BD5E-149F600F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>
            <a:extLst>
              <a:ext uri="{FF2B5EF4-FFF2-40B4-BE49-F238E27FC236}">
                <a16:creationId xmlns:a16="http://schemas.microsoft.com/office/drawing/2014/main" id="{8C5B48E2-50BB-27DB-E4EF-7C31B32208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>
            <a:extLst>
              <a:ext uri="{FF2B5EF4-FFF2-40B4-BE49-F238E27FC236}">
                <a16:creationId xmlns:a16="http://schemas.microsoft.com/office/drawing/2014/main" id="{1B2CB92A-75D3-25AF-5F21-F2509AC00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88353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919662" y="2427386"/>
            <a:ext cx="23526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TP 2 — PARTIE 2 (EXERCICE 2)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210389" y="2732186"/>
            <a:ext cx="9771221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Classification Binaire par Transfer Learning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29025" y="3425576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Modélisation, Entraînement et Comparaison de 4 Modèles sur Cats vs Dogs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715000" y="3939926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195637" y="4216151"/>
            <a:ext cx="58007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Fichier de référence : </a:t>
            </a:r>
            <a:r>
              <a:rPr lang="en-US" sz="11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"Exercice 1 Implémentation d'une Variante de VGG pour la Cla (1).docx"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715000" y="2790825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960483" y="3067050"/>
            <a:ext cx="8271033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01 / </a:t>
            </a:r>
            <a:r>
              <a:rPr lang="en-US" sz="42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Préparation</a:t>
            </a:r>
            <a:r>
              <a:rPr lang="en-US" sz="42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des Données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3157537" y="4019550"/>
            <a:ext cx="58769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Prétraitement</a:t>
            </a:r>
            <a:r>
              <a:rPr lang="en-US" sz="1500" b="0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d'images</a:t>
            </a:r>
            <a:r>
              <a:rPr lang="en-US" sz="1500" b="0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lang="en-US" sz="1500" b="0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découpage</a:t>
            </a:r>
            <a:r>
              <a:rPr lang="en-US" sz="1500" b="0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rigoureux</a:t>
            </a:r>
            <a:r>
              <a:rPr lang="en-US" sz="1500" b="0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du dataset Cats vs Dogs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26877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81025" y="2265015"/>
            <a:ext cx="5324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Chargement optimisé de TFDS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14400" y="2731740"/>
            <a:ext cx="4991100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Dataset source :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23 262 images du dataset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cats_vs_dogs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(les images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corrompues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ont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été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automatiquement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filtrées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914400" y="3355627"/>
            <a:ext cx="4991100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Répartition</a:t>
            </a: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demandée</a:t>
            </a: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: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Séparation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manuelle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stricte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80% Train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(18 610), </a:t>
            </a: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10% Validation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(2 326) et </a:t>
            </a: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10% Test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(2 326).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914400" y="3969990"/>
            <a:ext cx="4991100" cy="53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Redimensionnement</a:t>
            </a: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: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Toutes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les images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sont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converties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224 x 224 pixels pour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correspondre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aux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modèles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d'ImageNet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275555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337944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" y="399380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23900" y="485775"/>
            <a:ext cx="11431428" cy="45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Données Pipeline </a:t>
            </a:r>
            <a:r>
              <a:rPr lang="en-US" sz="27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d'Entrée</a:t>
            </a:r>
            <a:endParaRPr dirty="0"/>
          </a:p>
        </p:txBody>
      </p:sp>
      <p:sp>
        <p:nvSpPr>
          <p:cNvPr id="115" name="Google Shape;115;p15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0EBEC1B4-D9C3-3849-FB8F-4BDCCF181557}"/>
              </a:ext>
            </a:extLst>
          </p:cNvPr>
          <p:cNvPicPr/>
          <p:nvPr/>
        </p:nvPicPr>
        <p:blipFill>
          <a:blip r:embed="rId8"/>
          <a:srcRect r="36337"/>
          <a:stretch>
            <a:fillRect/>
          </a:stretch>
        </p:blipFill>
        <p:spPr>
          <a:xfrm>
            <a:off x="6286501" y="1926877"/>
            <a:ext cx="5324474" cy="3619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C0EE44A0-E08F-D774-F2D6-D8BF6B1E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>
            <a:extLst>
              <a:ext uri="{FF2B5EF4-FFF2-40B4-BE49-F238E27FC236}">
                <a16:creationId xmlns:a16="http://schemas.microsoft.com/office/drawing/2014/main" id="{525D02E0-1ECB-16E1-204E-5A45A0D79E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72" y="-485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>
            <a:extLst>
              <a:ext uri="{FF2B5EF4-FFF2-40B4-BE49-F238E27FC236}">
                <a16:creationId xmlns:a16="http://schemas.microsoft.com/office/drawing/2014/main" id="{D87EAF5C-EDF4-861C-6A5B-9856F13122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26877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8FE7810F-65E4-8F36-6BDD-AE524F2153C3}"/>
              </a:ext>
            </a:extLst>
          </p:cNvPr>
          <p:cNvSpPr txBox="1"/>
          <p:nvPr/>
        </p:nvSpPr>
        <p:spPr>
          <a:xfrm>
            <a:off x="914400" y="2009269"/>
            <a:ext cx="49911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fr-MA" sz="116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Sur cette capture de notre code, vous pouvez voir comment nous avons défini précisément nos fenêtres de découpage de manière déterministe. Nous chargeons le </a:t>
            </a:r>
            <a:r>
              <a:rPr lang="fr-MA" sz="116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</a:t>
            </a:r>
            <a:r>
              <a:rPr lang="fr-MA" sz="116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en mode supervisé afin de récupérer directement les couples images-labels sous forme de tenseurs.</a:t>
            </a:r>
            <a:endParaRPr sz="116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D223BD2C-0C38-F4E5-B1C8-1E03AE09B54F}"/>
              </a:ext>
            </a:extLst>
          </p:cNvPr>
          <p:cNvSpPr txBox="1"/>
          <p:nvPr/>
        </p:nvSpPr>
        <p:spPr>
          <a:xfrm>
            <a:off x="914400" y="3284220"/>
            <a:ext cx="4991100" cy="187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fr-MA" sz="116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Pour garantir des performances optimales et éviter les ralentissements, chaque image passe par une normalisation des pixels entre 0 et 1. Nous appliquons ensuite un mélange avec </a:t>
            </a:r>
            <a:r>
              <a:rPr lang="fr-MA" sz="116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shuffle</a:t>
            </a:r>
            <a:r>
              <a:rPr lang="fr-MA" sz="116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un regroupement par lots (ou </a:t>
            </a:r>
            <a:r>
              <a:rPr lang="fr-MA" sz="116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batchs</a:t>
            </a:r>
            <a:r>
              <a:rPr lang="fr-MA" sz="116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de taille 32, et surtout la fonction </a:t>
            </a:r>
            <a:r>
              <a:rPr lang="fr-MA" sz="116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prefetch</a:t>
            </a:r>
            <a:r>
              <a:rPr lang="fr-MA" sz="116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avec </a:t>
            </a:r>
            <a:r>
              <a:rPr lang="fr-MA" sz="116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tf.data.AUTOTUNE</a:t>
            </a:r>
            <a:r>
              <a:rPr lang="fr-MA" sz="116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Cela permet de préparer les prochains lots d'images en arrière-plan sur le CPU pendant que le GPU calcule le lot actuel, ce qui accélère considérablement l'entraînement.</a:t>
            </a:r>
            <a:endParaRPr sz="116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10" name="Google Shape;110;p15" descr="image.png">
            <a:extLst>
              <a:ext uri="{FF2B5EF4-FFF2-40B4-BE49-F238E27FC236}">
                <a16:creationId xmlns:a16="http://schemas.microsoft.com/office/drawing/2014/main" id="{2CF781BF-4E72-37B6-317C-78902DB507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0075" y="202773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>
            <a:extLst>
              <a:ext uri="{FF2B5EF4-FFF2-40B4-BE49-F238E27FC236}">
                <a16:creationId xmlns:a16="http://schemas.microsoft.com/office/drawing/2014/main" id="{62F0C2BC-C8E9-E931-AC7C-04815F13925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4360" y="333851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>
            <a:extLst>
              <a:ext uri="{FF2B5EF4-FFF2-40B4-BE49-F238E27FC236}">
                <a16:creationId xmlns:a16="http://schemas.microsoft.com/office/drawing/2014/main" id="{5882F909-431A-AA4C-84F3-2285175C4C5E}"/>
              </a:ext>
            </a:extLst>
          </p:cNvPr>
          <p:cNvSpPr txBox="1"/>
          <p:nvPr/>
        </p:nvSpPr>
        <p:spPr>
          <a:xfrm>
            <a:off x="723900" y="485775"/>
            <a:ext cx="11431428" cy="45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Données Pipeline </a:t>
            </a:r>
            <a:r>
              <a:rPr lang="en-US" sz="27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d'Entrée</a:t>
            </a:r>
            <a:endParaRPr dirty="0"/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F46C4B28-DE5B-F99B-7DF7-3C6D29ACB078}"/>
              </a:ext>
            </a:extLst>
          </p:cNvPr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drawing">
            <a:extLst>
              <a:ext uri="{FF2B5EF4-FFF2-40B4-BE49-F238E27FC236}">
                <a16:creationId xmlns:a16="http://schemas.microsoft.com/office/drawing/2014/main" id="{80F6E4F5-D060-B465-F6DE-723D959CBF83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6000750" y="1926877"/>
            <a:ext cx="5810249" cy="3619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60063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/>
          <p:nvPr/>
        </p:nvSpPr>
        <p:spPr>
          <a:xfrm>
            <a:off x="5715000" y="2790825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1700450" y="3067050"/>
            <a:ext cx="879109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42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02 / </a:t>
            </a:r>
            <a:r>
              <a:rPr lang="fr-FR" sz="42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Choix des architectures pour comparaison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32521"/>
            <a:ext cx="2650331" cy="1729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74231" y="3032521"/>
            <a:ext cx="2650331" cy="1729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7437" y="3032521"/>
            <a:ext cx="2650331" cy="1729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60643" y="3032521"/>
            <a:ext cx="2650331" cy="172908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81025" y="2627709"/>
            <a:ext cx="110299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Quatre backbones pré-entraînés sur ImageNet aux paradigmes conceptuels distincts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00100" y="3689746"/>
            <a:ext cx="232279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VGG16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00100" y="4004071"/>
            <a:ext cx="2212181" cy="53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Modèle classique et profond. Filtres homogènes de 3x3. Très performant mais lourd en paramètres (138M).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3593306" y="3689746"/>
            <a:ext cx="232279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MobileNetV2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593306" y="4004071"/>
            <a:ext cx="2212181" cy="53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Conçu pour l'embarqué. Utilise des convolutions séparables en profondeur et des goulots d'étranglement résiduels.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386512" y="3689746"/>
            <a:ext cx="232279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ResNet50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386512" y="4004071"/>
            <a:ext cx="2212181" cy="53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Introduit les connexions résiduelles "shortcuts" pour contourner le problème d'évanouissement du gradient.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179718" y="3689746"/>
            <a:ext cx="232279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EfficientNetB0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79718" y="4004071"/>
            <a:ext cx="2212181" cy="53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Optimisation multi-dimensionnelle (largeur, profondeur, résolution d'image) par Scaling Method.</a:t>
            </a:r>
            <a:endParaRPr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0100" y="3289696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93306" y="3289696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86512" y="3289696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79718" y="328969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723900" y="485775"/>
            <a:ext cx="11431428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Choix des architectures</a:t>
            </a:r>
            <a:endParaRPr sz="2700" dirty="0"/>
          </a:p>
        </p:txBody>
      </p:sp>
      <p:sp>
        <p:nvSpPr>
          <p:cNvPr id="3" name="Google Shape;115;p15">
            <a:extLst>
              <a:ext uri="{FF2B5EF4-FFF2-40B4-BE49-F238E27FC236}">
                <a16:creationId xmlns:a16="http://schemas.microsoft.com/office/drawing/2014/main" id="{C8196805-E6CA-9488-8525-BC0466941FFC}"/>
              </a:ext>
            </a:extLst>
          </p:cNvPr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6310312" y="1386480"/>
            <a:ext cx="5324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Analyse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Technique de la Tête</a:t>
            </a:r>
            <a:endParaRPr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6617630" y="3219132"/>
            <a:ext cx="4991100" cy="66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GlobalAveragePooling2D :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Réduit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l'espace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bidimensionnel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des features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cartes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sans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introduire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paramètres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diminuant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drastiquement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les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risques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surapprentissage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67" name="Google Shape;167;p18"/>
          <p:cNvSpPr txBox="1"/>
          <p:nvPr/>
        </p:nvSpPr>
        <p:spPr>
          <a:xfrm>
            <a:off x="6617630" y="4697041"/>
            <a:ext cx="4991100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Dropout (0.5) :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Éteint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aléatoirement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moitié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des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connexions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denses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pour forcer le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modèle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à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apprendre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des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représentations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redondantes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robustes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68" name="Google Shape;168;p18"/>
          <p:cNvSpPr txBox="1"/>
          <p:nvPr/>
        </p:nvSpPr>
        <p:spPr>
          <a:xfrm>
            <a:off x="6643687" y="5332455"/>
            <a:ext cx="4991100" cy="53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Activation </a:t>
            </a:r>
            <a:r>
              <a:rPr lang="en-US" sz="1162" b="0" i="0" u="none" strike="noStrike" cap="none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Sigmoïde</a:t>
            </a: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: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Sortie unique [0, 1] pour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obtenir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directement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probabilité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l'image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appartienne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à la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classe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positive (1 = Chien, 0 = Chat).</a:t>
            </a:r>
            <a:endParaRPr dirty="0"/>
          </a:p>
        </p:txBody>
      </p:sp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9618" y="194417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9618" y="412267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0311" y="4772535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45E0C01-DB70-A2AF-3576-CB7ABE74D46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575" b="68063"/>
          <a:stretch>
            <a:fillRect/>
          </a:stretch>
        </p:blipFill>
        <p:spPr>
          <a:xfrm>
            <a:off x="695871" y="2378706"/>
            <a:ext cx="5100365" cy="957322"/>
          </a:xfrm>
          <a:prstGeom prst="rect">
            <a:avLst/>
          </a:prstGeom>
        </p:spPr>
      </p:pic>
      <p:sp>
        <p:nvSpPr>
          <p:cNvPr id="9" name="Google Shape;168;p18">
            <a:extLst>
              <a:ext uri="{FF2B5EF4-FFF2-40B4-BE49-F238E27FC236}">
                <a16:creationId xmlns:a16="http://schemas.microsoft.com/office/drawing/2014/main" id="{94EAE720-4266-5051-C90B-D2F0FBD7C359}"/>
              </a:ext>
            </a:extLst>
          </p:cNvPr>
          <p:cNvSpPr txBox="1"/>
          <p:nvPr/>
        </p:nvSpPr>
        <p:spPr>
          <a:xfrm>
            <a:off x="6617630" y="4076002"/>
            <a:ext cx="4991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162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Activation </a:t>
            </a:r>
            <a:r>
              <a:rPr lang="en-US" sz="1162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relu</a:t>
            </a:r>
            <a:r>
              <a:rPr lang="en-US" sz="1162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: </a:t>
            </a:r>
            <a:r>
              <a:rPr lang="fr-MA" sz="1160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Cette couche apprend les caractéristiques spécifiques au problème de classification des chats et des chiens.</a:t>
            </a:r>
            <a:endParaRPr sz="1160" dirty="0">
              <a:solidFill>
                <a:srgbClr val="CBD5E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1" name="Google Shape;171;p18" descr="image.png">
            <a:extLst>
              <a:ext uri="{FF2B5EF4-FFF2-40B4-BE49-F238E27FC236}">
                <a16:creationId xmlns:a16="http://schemas.microsoft.com/office/drawing/2014/main" id="{365B6888-6820-C1BD-0969-36F73067FF2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51209" y="3313804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2468301-A39E-2AA2-0401-AEB4F0DA94E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4062" b="-2"/>
          <a:stretch>
            <a:fillRect/>
          </a:stretch>
        </p:blipFill>
        <p:spPr>
          <a:xfrm>
            <a:off x="695871" y="3336028"/>
            <a:ext cx="5100365" cy="2395083"/>
          </a:xfrm>
          <a:prstGeom prst="rect">
            <a:avLst/>
          </a:prstGeom>
        </p:spPr>
      </p:pic>
      <p:sp>
        <p:nvSpPr>
          <p:cNvPr id="17" name="Google Shape;147;p16">
            <a:extLst>
              <a:ext uri="{FF2B5EF4-FFF2-40B4-BE49-F238E27FC236}">
                <a16:creationId xmlns:a16="http://schemas.microsoft.com/office/drawing/2014/main" id="{E4E59225-EFB9-1387-9898-7FA6C64A7C6A}"/>
              </a:ext>
            </a:extLst>
          </p:cNvPr>
          <p:cNvSpPr txBox="1"/>
          <p:nvPr/>
        </p:nvSpPr>
        <p:spPr>
          <a:xfrm>
            <a:off x="723900" y="485775"/>
            <a:ext cx="11431428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Choix des architectures</a:t>
            </a:r>
            <a:endParaRPr sz="2700" dirty="0"/>
          </a:p>
        </p:txBody>
      </p:sp>
      <p:sp>
        <p:nvSpPr>
          <p:cNvPr id="21" name="Google Shape;168;p18">
            <a:extLst>
              <a:ext uri="{FF2B5EF4-FFF2-40B4-BE49-F238E27FC236}">
                <a16:creationId xmlns:a16="http://schemas.microsoft.com/office/drawing/2014/main" id="{EB51EC67-2FA2-F93D-B947-854C79320DD1}"/>
              </a:ext>
            </a:extLst>
          </p:cNvPr>
          <p:cNvSpPr txBox="1"/>
          <p:nvPr/>
        </p:nvSpPr>
        <p:spPr>
          <a:xfrm>
            <a:off x="6617630" y="1895210"/>
            <a:ext cx="4991100" cy="170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62" b="0" i="0" u="none" strike="noStrike" cap="none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Transfert</a:t>
            </a:r>
            <a:r>
              <a:rPr lang="en-US" sz="1162" b="0" i="0" u="none" strike="noStrike" cap="none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learning: </a:t>
            </a:r>
            <a:r>
              <a:rPr lang="fr-MA" sz="1200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Utilisation d’une architecture de base pré-entraînée sur </a:t>
            </a:r>
            <a:r>
              <a:rPr lang="fr-MA" sz="1200" i="1" dirty="0" err="1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ImageNet</a:t>
            </a:r>
            <a:r>
              <a:rPr lang="fr-MA" sz="1200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fr-MA" sz="1200" dirty="0" err="1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weights</a:t>
            </a:r>
            <a:r>
              <a:rPr lang="fr-MA" sz="1200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='</a:t>
            </a:r>
            <a:r>
              <a:rPr lang="fr-MA" sz="1200" dirty="0" err="1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imagenet</a:t>
            </a:r>
            <a:r>
              <a:rPr lang="fr-MA" sz="1200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') dont le cœur convolutif est volontairement gelé (</a:t>
            </a:r>
            <a:r>
              <a:rPr lang="fr-MA" sz="1200" dirty="0" err="1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trainable</a:t>
            </a:r>
            <a:r>
              <a:rPr lang="fr-MA" sz="1200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=False). Cela permet de conserver les filtres visuels déjà appris et de n'entraîner que la nouvelle tête de classification personnalisée.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23" name="Google Shape;169;p18" descr="image.png">
            <a:extLst>
              <a:ext uri="{FF2B5EF4-FFF2-40B4-BE49-F238E27FC236}">
                <a16:creationId xmlns:a16="http://schemas.microsoft.com/office/drawing/2014/main" id="{85962E23-1D13-5E1C-C69B-1CB5E75324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0899" y="5419758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7" name="Google Shape;217;p21"/>
          <p:cNvGraphicFramePr/>
          <p:nvPr>
            <p:extLst>
              <p:ext uri="{D42A27DB-BD31-4B8C-83A1-F6EECF244321}">
                <p14:modId xmlns:p14="http://schemas.microsoft.com/office/powerpoint/2010/main" val="1870495076"/>
              </p:ext>
            </p:extLst>
          </p:nvPr>
        </p:nvGraphicFramePr>
        <p:xfrm>
          <a:off x="650568" y="1120079"/>
          <a:ext cx="10941334" cy="4779888"/>
        </p:xfrm>
        <a:graphic>
          <a:graphicData uri="http://schemas.openxmlformats.org/drawingml/2006/table">
            <a:tbl>
              <a:tblPr firstRow="1" bandRow="1">
                <a:noFill/>
                <a:tableStyleId>{09E8BD11-EDA1-43AA-A5CD-91A79EA6D864}</a:tableStyleId>
              </a:tblPr>
              <a:tblGrid>
                <a:gridCol w="2939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5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09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5596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Modèle</a:t>
                      </a:r>
                      <a:r>
                        <a:rPr lang="en-US" sz="1125" b="0" i="0" u="none" strike="noStrike" cap="none" dirty="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/ Architecture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96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VGG16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596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MobileNetV2 (</a:t>
                      </a:r>
                      <a:r>
                        <a:rPr lang="en-US" sz="1200" b="1" i="0" u="none" strike="noStrike" cap="none" dirty="0" err="1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Gagnant</a:t>
                      </a:r>
                      <a:r>
                        <a:rPr lang="en-US" sz="1200" b="1" i="0" u="none" strike="noStrike" cap="none" dirty="0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596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ResNet50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60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EfficientNetB0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8" name="Google Shape;218;p21"/>
          <p:cNvSpPr/>
          <p:nvPr/>
        </p:nvSpPr>
        <p:spPr>
          <a:xfrm>
            <a:off x="590550" y="2944462"/>
            <a:ext cx="11001349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10100964" y="2848421"/>
            <a:ext cx="1500485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590550" y="3372296"/>
            <a:ext cx="283219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3422749" y="3372296"/>
            <a:ext cx="18000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5222825" y="3372296"/>
            <a:ext cx="1758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6980932" y="3372296"/>
            <a:ext cx="146402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8444954" y="3372296"/>
            <a:ext cx="165601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10100964" y="3372296"/>
            <a:ext cx="150048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422749" y="3886646"/>
            <a:ext cx="18000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222825" y="3886646"/>
            <a:ext cx="1758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6980932" y="3886646"/>
            <a:ext cx="146402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8444954" y="3886646"/>
            <a:ext cx="165601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10100964" y="3886646"/>
            <a:ext cx="150048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90550" y="4396233"/>
            <a:ext cx="283219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3422749" y="4396233"/>
            <a:ext cx="18000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5222825" y="4396233"/>
            <a:ext cx="1758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6980932" y="4396233"/>
            <a:ext cx="146402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8444954" y="4396233"/>
            <a:ext cx="165601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10100964" y="4396233"/>
            <a:ext cx="150048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723900" y="485775"/>
            <a:ext cx="1143142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Performances des 4 </a:t>
            </a:r>
            <a:r>
              <a:rPr lang="en-US" sz="27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Modèles</a:t>
            </a:r>
            <a:endParaRPr dirty="0"/>
          </a:p>
        </p:txBody>
      </p:sp>
      <p:sp>
        <p:nvSpPr>
          <p:cNvPr id="243" name="Google Shape;243;p21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CE1021A-5A1A-C002-D711-8E2BB2DD3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560" y="3143467"/>
            <a:ext cx="9104339" cy="87353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82454A3-6CE7-370B-71C0-FC2313A9E2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3898" b="9420"/>
          <a:stretch>
            <a:fillRect/>
          </a:stretch>
        </p:blipFill>
        <p:spPr>
          <a:xfrm>
            <a:off x="2487561" y="1907485"/>
            <a:ext cx="9104339" cy="940936"/>
          </a:xfrm>
          <a:prstGeom prst="rect">
            <a:avLst/>
          </a:prstGeom>
        </p:spPr>
      </p:pic>
      <p:sp>
        <p:nvSpPr>
          <p:cNvPr id="11" name="Google Shape;218;p21">
            <a:extLst>
              <a:ext uri="{FF2B5EF4-FFF2-40B4-BE49-F238E27FC236}">
                <a16:creationId xmlns:a16="http://schemas.microsoft.com/office/drawing/2014/main" id="{ADEE5FBE-DE02-D657-A20B-C37FAD519CA0}"/>
              </a:ext>
            </a:extLst>
          </p:cNvPr>
          <p:cNvSpPr/>
          <p:nvPr/>
        </p:nvSpPr>
        <p:spPr>
          <a:xfrm>
            <a:off x="609626" y="1790672"/>
            <a:ext cx="11001349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18;p21">
            <a:extLst>
              <a:ext uri="{FF2B5EF4-FFF2-40B4-BE49-F238E27FC236}">
                <a16:creationId xmlns:a16="http://schemas.microsoft.com/office/drawing/2014/main" id="{E8AFE904-55AB-08AD-FA25-3016D683CC23}"/>
              </a:ext>
            </a:extLst>
          </p:cNvPr>
          <p:cNvSpPr/>
          <p:nvPr/>
        </p:nvSpPr>
        <p:spPr>
          <a:xfrm>
            <a:off x="571473" y="1101030"/>
            <a:ext cx="11049054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18;p21">
            <a:extLst>
              <a:ext uri="{FF2B5EF4-FFF2-40B4-BE49-F238E27FC236}">
                <a16:creationId xmlns:a16="http://schemas.microsoft.com/office/drawing/2014/main" id="{AE565CB7-DCC8-C5C3-88BD-1464ED1E9A0C}"/>
              </a:ext>
            </a:extLst>
          </p:cNvPr>
          <p:cNvSpPr/>
          <p:nvPr/>
        </p:nvSpPr>
        <p:spPr>
          <a:xfrm>
            <a:off x="609626" y="4124565"/>
            <a:ext cx="11001349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47E02FF-B4A5-C4CF-7BD7-B6DCD09610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09"/>
          <a:stretch>
            <a:fillRect/>
          </a:stretch>
        </p:blipFill>
        <p:spPr>
          <a:xfrm>
            <a:off x="2501859" y="4239385"/>
            <a:ext cx="9075739" cy="880140"/>
          </a:xfrm>
          <a:prstGeom prst="rect">
            <a:avLst/>
          </a:prstGeom>
        </p:spPr>
      </p:pic>
      <p:sp>
        <p:nvSpPr>
          <p:cNvPr id="21" name="Google Shape;218;p21">
            <a:extLst>
              <a:ext uri="{FF2B5EF4-FFF2-40B4-BE49-F238E27FC236}">
                <a16:creationId xmlns:a16="http://schemas.microsoft.com/office/drawing/2014/main" id="{9A77E16F-FA4B-AC36-3C7A-12CC914C9A33}"/>
              </a:ext>
            </a:extLst>
          </p:cNvPr>
          <p:cNvSpPr/>
          <p:nvPr/>
        </p:nvSpPr>
        <p:spPr>
          <a:xfrm>
            <a:off x="590549" y="5211640"/>
            <a:ext cx="11001349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2A699D02-63C0-BCC6-8E6E-58AC4D0E1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1859" y="5332632"/>
            <a:ext cx="9075739" cy="758394"/>
          </a:xfrm>
          <a:prstGeom prst="rect">
            <a:avLst/>
          </a:prstGeom>
        </p:spPr>
      </p:pic>
      <p:sp>
        <p:nvSpPr>
          <p:cNvPr id="25" name="Google Shape;218;p21">
            <a:extLst>
              <a:ext uri="{FF2B5EF4-FFF2-40B4-BE49-F238E27FC236}">
                <a16:creationId xmlns:a16="http://schemas.microsoft.com/office/drawing/2014/main" id="{BA1206DD-0AB3-B184-50F6-8A0BB2016C29}"/>
              </a:ext>
            </a:extLst>
          </p:cNvPr>
          <p:cNvSpPr/>
          <p:nvPr/>
        </p:nvSpPr>
        <p:spPr>
          <a:xfrm>
            <a:off x="576249" y="6071911"/>
            <a:ext cx="11001349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18;p21">
            <a:extLst>
              <a:ext uri="{FF2B5EF4-FFF2-40B4-BE49-F238E27FC236}">
                <a16:creationId xmlns:a16="http://schemas.microsoft.com/office/drawing/2014/main" id="{6AE27BB1-B885-FB71-2724-420183E546AC}"/>
              </a:ext>
            </a:extLst>
          </p:cNvPr>
          <p:cNvSpPr/>
          <p:nvPr/>
        </p:nvSpPr>
        <p:spPr>
          <a:xfrm rot="16200000" flipV="1">
            <a:off x="-1883959" y="3602181"/>
            <a:ext cx="4970883" cy="60017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18;p21">
            <a:extLst>
              <a:ext uri="{FF2B5EF4-FFF2-40B4-BE49-F238E27FC236}">
                <a16:creationId xmlns:a16="http://schemas.microsoft.com/office/drawing/2014/main" id="{9297C834-A529-9350-925B-1FD17C75BC41}"/>
              </a:ext>
            </a:extLst>
          </p:cNvPr>
          <p:cNvSpPr/>
          <p:nvPr/>
        </p:nvSpPr>
        <p:spPr>
          <a:xfrm rot="16200000" flipV="1">
            <a:off x="9108416" y="3586470"/>
            <a:ext cx="5016600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FF04DF82-6EA1-461F-755A-256968D5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>
            <a:extLst>
              <a:ext uri="{FF2B5EF4-FFF2-40B4-BE49-F238E27FC236}">
                <a16:creationId xmlns:a16="http://schemas.microsoft.com/office/drawing/2014/main" id="{8945F049-011C-B128-AA04-9CA278795D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7DA2E75D-E920-1E40-1816-E41905A8503B}"/>
              </a:ext>
            </a:extLst>
          </p:cNvPr>
          <p:cNvSpPr/>
          <p:nvPr/>
        </p:nvSpPr>
        <p:spPr>
          <a:xfrm>
            <a:off x="5715000" y="2790825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84941807-A563-336D-12BC-C6B408A7D55F}"/>
              </a:ext>
            </a:extLst>
          </p:cNvPr>
          <p:cNvSpPr txBox="1"/>
          <p:nvPr/>
        </p:nvSpPr>
        <p:spPr>
          <a:xfrm>
            <a:off x="1700450" y="3067050"/>
            <a:ext cx="87910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42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03 / </a:t>
            </a:r>
            <a:r>
              <a:rPr lang="fr-FR" sz="42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Entrainement du modèle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2215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81025" y="2264866"/>
            <a:ext cx="5324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Hyperparamètres et Supervision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14400" y="2731591"/>
            <a:ext cx="4991100" cy="53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Optimiseur</a:t>
            </a: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Adam :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Taux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d'apprentissage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calé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à 0.001,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s'adaptant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à la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dynamique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rétropropagation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la tête de classification.</a:t>
            </a:r>
            <a:endParaRPr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914400" y="3345953"/>
            <a:ext cx="4991100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Fonction de Perte 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binary_crossentropy, requise pour des décisions d'erreur probabilistes binaires.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14400" y="3969841"/>
            <a:ext cx="4991100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Early Stopping (Patience = 2) 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Interrompt immédiatement l'entraînement si la perte de validation cesse de s'améliorer pendant 2 époques successives.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914400" y="4584203"/>
            <a:ext cx="4991100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Model Checkpoint 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Conserve de façon persistante uniquement la version du modèle ayant atteint la meilleure métrique de validation (val_accuracy).</a:t>
            </a:r>
            <a:endParaRPr/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275540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336976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3993653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" y="4608016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723900" y="485775"/>
            <a:ext cx="11431428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FR" sz="28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Entrainement du modèle</a:t>
            </a:r>
            <a:endParaRPr dirty="0"/>
          </a:p>
        </p:txBody>
      </p:sp>
      <p:sp>
        <p:nvSpPr>
          <p:cNvPr id="202" name="Google Shape;202;p19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A64AEC4-F80A-9F10-FE5C-F32A11BCCFE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16" t="1675" r="10921"/>
          <a:stretch>
            <a:fillRect/>
          </a:stretch>
        </p:blipFill>
        <p:spPr>
          <a:xfrm>
            <a:off x="6286500" y="1137031"/>
            <a:ext cx="5678071" cy="132043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FAEB999-7F47-C536-E97E-BB9DB3F2AA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499" y="2438853"/>
            <a:ext cx="5678071" cy="37713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EC446D1-6BDD-1B1F-A132-1691488E90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498" y="2893971"/>
            <a:ext cx="5678071" cy="35132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507572BB-EC6A-AB6A-68C8-25CC4C02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>
            <a:extLst>
              <a:ext uri="{FF2B5EF4-FFF2-40B4-BE49-F238E27FC236}">
                <a16:creationId xmlns:a16="http://schemas.microsoft.com/office/drawing/2014/main" id="{52CD2995-0509-7205-86B0-D974055A8A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8EEDE6C5-0E53-AF46-C2FC-7B0BDF7EF646}"/>
              </a:ext>
            </a:extLst>
          </p:cNvPr>
          <p:cNvSpPr/>
          <p:nvPr/>
        </p:nvSpPr>
        <p:spPr>
          <a:xfrm>
            <a:off x="5715000" y="2790825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9F8B52F9-8F95-C335-4816-387DCB16AE18}"/>
              </a:ext>
            </a:extLst>
          </p:cNvPr>
          <p:cNvSpPr txBox="1"/>
          <p:nvPr/>
        </p:nvSpPr>
        <p:spPr>
          <a:xfrm>
            <a:off x="1700450" y="3067050"/>
            <a:ext cx="87910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42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42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en-US" sz="42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fr-FR" sz="42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Evaluation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8026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131C42BF-A8CB-BE1E-2A0C-B6F9BC8E1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0;p16" descr="image.png">
            <a:extLst>
              <a:ext uri="{FF2B5EF4-FFF2-40B4-BE49-F238E27FC236}">
                <a16:creationId xmlns:a16="http://schemas.microsoft.com/office/drawing/2014/main" id="{EDCBD5EF-687D-93BA-21CE-6DFF132A50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9E7C04A5-0131-9917-2220-15725A4ACD68}"/>
              </a:ext>
            </a:extLst>
          </p:cNvPr>
          <p:cNvSpPr txBox="1"/>
          <p:nvPr/>
        </p:nvSpPr>
        <p:spPr>
          <a:xfrm>
            <a:off x="6286500" y="2470844"/>
            <a:ext cx="53244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Analyse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dirty="0"/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217BC406-EFCC-FD7C-E2CB-034041DF61E0}"/>
              </a:ext>
            </a:extLst>
          </p:cNvPr>
          <p:cNvSpPr txBox="1"/>
          <p:nvPr/>
        </p:nvSpPr>
        <p:spPr>
          <a:xfrm>
            <a:off x="6619875" y="2937569"/>
            <a:ext cx="4991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162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y_true</a:t>
            </a:r>
            <a:r>
              <a:rPr lang="en-US" sz="1162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= </a:t>
            </a:r>
            <a:r>
              <a:rPr lang="en-US" sz="1162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np.concatenate</a:t>
            </a:r>
            <a:r>
              <a:rPr lang="en-US" sz="1162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([y for x, y in </a:t>
            </a:r>
            <a:r>
              <a:rPr lang="en-US" sz="1162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test_ds</a:t>
            </a:r>
            <a:r>
              <a:rPr lang="en-US" sz="1162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], axis=0)</a:t>
            </a: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: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fr-MA" sz="1200" dirty="0">
                <a:solidFill>
                  <a:srgbClr val="CBD5E1"/>
                </a:solidFill>
              </a:rPr>
              <a:t>récupère toutes les classes réelles (Chat ou Chien) du jeu de test.</a:t>
            </a:r>
            <a:endParaRPr dirty="0">
              <a:solidFill>
                <a:srgbClr val="CBD5E1"/>
              </a:solidFill>
            </a:endParaRPr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59A5B089-684B-FC53-374B-9FD967D06F39}"/>
              </a:ext>
            </a:extLst>
          </p:cNvPr>
          <p:cNvSpPr txBox="1"/>
          <p:nvPr/>
        </p:nvSpPr>
        <p:spPr>
          <a:xfrm>
            <a:off x="6617630" y="4135791"/>
            <a:ext cx="499110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62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y_pred_classes</a:t>
            </a:r>
            <a:r>
              <a:rPr lang="en-US" sz="1162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= (</a:t>
            </a:r>
            <a:r>
              <a:rPr lang="en-US" sz="1162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y_pred_probs</a:t>
            </a:r>
            <a:r>
              <a:rPr lang="en-US" sz="1162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&gt; 0.5).</a:t>
            </a:r>
            <a:r>
              <a:rPr lang="en-US" sz="1162" dirty="0" err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astype</a:t>
            </a:r>
            <a:r>
              <a:rPr lang="en-US" sz="1162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(int)</a:t>
            </a:r>
            <a:r>
              <a:rPr lang="en-US" sz="1162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fr-MA" sz="1200" dirty="0">
                <a:solidFill>
                  <a:srgbClr val="CBD5E1"/>
                </a:solidFill>
              </a:rPr>
              <a:t>Le seuil de décision est fixé à </a:t>
            </a:r>
            <a:r>
              <a:rPr lang="fr-MA" sz="1200" b="1" dirty="0">
                <a:solidFill>
                  <a:srgbClr val="CBD5E1"/>
                </a:solidFill>
              </a:rPr>
              <a:t>0,5</a:t>
            </a:r>
            <a:r>
              <a:rPr lang="fr-MA" sz="1200" dirty="0">
                <a:solidFill>
                  <a:srgbClr val="CBD5E1"/>
                </a:solidFill>
              </a:rPr>
              <a:t> :</a:t>
            </a:r>
          </a:p>
          <a:p>
            <a:r>
              <a:rPr lang="fr-MA" sz="1200" dirty="0">
                <a:solidFill>
                  <a:srgbClr val="CBD5E1"/>
                </a:solidFill>
              </a:rPr>
              <a:t>Probabilité &lt; 0,5 → Chat </a:t>
            </a:r>
          </a:p>
          <a:p>
            <a:r>
              <a:rPr lang="fr-MA" sz="1200" dirty="0">
                <a:solidFill>
                  <a:srgbClr val="CBD5E1"/>
                </a:solidFill>
              </a:rPr>
              <a:t>Probabilité ≥ 0,5 → Chien</a:t>
            </a:r>
          </a:p>
          <a:p>
            <a:pPr lvl="0">
              <a:lnSpc>
                <a:spcPct val="150000"/>
              </a:lnSpc>
            </a:pPr>
            <a:endParaRPr dirty="0"/>
          </a:p>
        </p:txBody>
      </p:sp>
      <p:pic>
        <p:nvPicPr>
          <p:cNvPr id="169" name="Google Shape;169;p18" descr="image.png">
            <a:extLst>
              <a:ext uri="{FF2B5EF4-FFF2-40B4-BE49-F238E27FC236}">
                <a16:creationId xmlns:a16="http://schemas.microsoft.com/office/drawing/2014/main" id="{A8B0CAED-BC21-5016-E88A-C48B70F985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02318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>
            <a:extLst>
              <a:ext uri="{FF2B5EF4-FFF2-40B4-BE49-F238E27FC236}">
                <a16:creationId xmlns:a16="http://schemas.microsoft.com/office/drawing/2014/main" id="{F198406C-4F40-07FB-BDC2-CF4EAC206BB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19434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33624F1A-2313-D172-13C2-8B23A3997DA9}"/>
              </a:ext>
            </a:extLst>
          </p:cNvPr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68;p18">
            <a:extLst>
              <a:ext uri="{FF2B5EF4-FFF2-40B4-BE49-F238E27FC236}">
                <a16:creationId xmlns:a16="http://schemas.microsoft.com/office/drawing/2014/main" id="{A95B3AD0-9EE7-457B-04FA-07A1B6F44C6A}"/>
              </a:ext>
            </a:extLst>
          </p:cNvPr>
          <p:cNvSpPr txBox="1"/>
          <p:nvPr/>
        </p:nvSpPr>
        <p:spPr>
          <a:xfrm>
            <a:off x="6617630" y="3508907"/>
            <a:ext cx="4991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162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y_pred_probs</a:t>
            </a:r>
            <a:r>
              <a:rPr lang="en-US" sz="1162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= </a:t>
            </a:r>
            <a:r>
              <a:rPr lang="en-US" sz="1162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model.predict</a:t>
            </a:r>
            <a:r>
              <a:rPr lang="en-US" sz="1162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1162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test_ds</a:t>
            </a:r>
            <a:r>
              <a:rPr lang="en-US" sz="1162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).ravel()</a:t>
            </a:r>
            <a:r>
              <a:rPr lang="en-US" sz="1162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fr-MA" sz="1200" dirty="0">
                <a:solidFill>
                  <a:srgbClr val="CBD5E1"/>
                </a:solidFill>
              </a:rPr>
              <a:t>Chaque modèle prédit la probabilité que l'image appartienne à la classe </a:t>
            </a:r>
            <a:r>
              <a:rPr lang="fr-MA" sz="1200" b="1" dirty="0">
                <a:solidFill>
                  <a:srgbClr val="CBD5E1"/>
                </a:solidFill>
              </a:rPr>
              <a:t>Chien</a:t>
            </a:r>
            <a:endParaRPr sz="1160" dirty="0">
              <a:solidFill>
                <a:srgbClr val="CBD5E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1" name="Google Shape;171;p18" descr="image.png">
            <a:extLst>
              <a:ext uri="{FF2B5EF4-FFF2-40B4-BE49-F238E27FC236}">
                <a16:creationId xmlns:a16="http://schemas.microsoft.com/office/drawing/2014/main" id="{F1C77EAE-0324-420D-37C6-C89F5141F14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5229" y="3604931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47;p16">
            <a:extLst>
              <a:ext uri="{FF2B5EF4-FFF2-40B4-BE49-F238E27FC236}">
                <a16:creationId xmlns:a16="http://schemas.microsoft.com/office/drawing/2014/main" id="{5E0366D3-7E5E-1E99-8539-32E7483FBE44}"/>
              </a:ext>
            </a:extLst>
          </p:cNvPr>
          <p:cNvSpPr txBox="1"/>
          <p:nvPr/>
        </p:nvSpPr>
        <p:spPr>
          <a:xfrm>
            <a:off x="723900" y="485775"/>
            <a:ext cx="11431428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Evaluation des </a:t>
            </a:r>
            <a:r>
              <a:rPr lang="en-US" sz="27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modeles</a:t>
            </a:r>
            <a:r>
              <a:rPr lang="en-US" sz="27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7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A0B25C0-7A4B-F9C9-37E6-F1DA8563E9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254" y="1500527"/>
            <a:ext cx="4670872" cy="489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531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A1EEFDC0-EED4-FE10-1743-96E60AFA7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>
            <a:extLst>
              <a:ext uri="{FF2B5EF4-FFF2-40B4-BE49-F238E27FC236}">
                <a16:creationId xmlns:a16="http://schemas.microsoft.com/office/drawing/2014/main" id="{F01AF385-D72D-775E-DDA2-92D85D82E7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1280" y="-213360"/>
            <a:ext cx="12395200" cy="730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>
            <a:extLst>
              <a:ext uri="{FF2B5EF4-FFF2-40B4-BE49-F238E27FC236}">
                <a16:creationId xmlns:a16="http://schemas.microsoft.com/office/drawing/2014/main" id="{1C39555A-14FF-E8F1-3BFC-2ABFD77815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101030"/>
            <a:ext cx="11029950" cy="527119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>
            <a:extLst>
              <a:ext uri="{FF2B5EF4-FFF2-40B4-BE49-F238E27FC236}">
                <a16:creationId xmlns:a16="http://schemas.microsoft.com/office/drawing/2014/main" id="{DF9B9824-BC98-5E73-4ADB-0BC79A3A7DD1}"/>
              </a:ext>
            </a:extLst>
          </p:cNvPr>
          <p:cNvSpPr txBox="1"/>
          <p:nvPr/>
        </p:nvSpPr>
        <p:spPr>
          <a:xfrm>
            <a:off x="581025" y="1900683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Résultats extraits de l'évaluation sur le jeu de données de Test</a:t>
            </a:r>
            <a:endParaRPr/>
          </a:p>
        </p:txBody>
      </p:sp>
      <p:graphicFrame>
        <p:nvGraphicFramePr>
          <p:cNvPr id="217" name="Google Shape;217;p21">
            <a:extLst>
              <a:ext uri="{FF2B5EF4-FFF2-40B4-BE49-F238E27FC236}">
                <a16:creationId xmlns:a16="http://schemas.microsoft.com/office/drawing/2014/main" id="{26341EE6-8550-9E8D-ECBF-CB772013A773}"/>
              </a:ext>
            </a:extLst>
          </p:cNvPr>
          <p:cNvGraphicFramePr/>
          <p:nvPr/>
        </p:nvGraphicFramePr>
        <p:xfrm>
          <a:off x="581025" y="2367408"/>
          <a:ext cx="11010875" cy="2547900"/>
        </p:xfrm>
        <a:graphic>
          <a:graphicData uri="http://schemas.openxmlformats.org/drawingml/2006/table">
            <a:tbl>
              <a:tblPr firstRow="1" bandRow="1">
                <a:noFill/>
                <a:tableStyleId>{09E8BD11-EDA1-43AA-A5CD-91A79EA6D864}</a:tableStyleId>
              </a:tblPr>
              <a:tblGrid>
                <a:gridCol w="283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0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Modèle</a:t>
                      </a:r>
                      <a:r>
                        <a:rPr lang="en-US" sz="1125" b="0" i="0" u="none" strike="noStrike" cap="none" dirty="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/ Architecture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Accuracy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Précision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Rappel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F1-Score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AUC 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VGG16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92.95 %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94.02 %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91.77 %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92.88 %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B82F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0.9827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MobileNetV2 (Gagnant)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98.71 %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98.46 %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98.97 %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98.72 %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0.9993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ResNet50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62.12 %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60.64 %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69.64 %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64.83 %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9E0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0.6728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EfficientNetB0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50.13 %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50.13 %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100.00 %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66.78 %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0.5000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7CEB1D14-401E-255B-690C-010FB106B284}"/>
              </a:ext>
            </a:extLst>
          </p:cNvPr>
          <p:cNvSpPr/>
          <p:nvPr/>
        </p:nvSpPr>
        <p:spPr>
          <a:xfrm>
            <a:off x="590550" y="2848421"/>
            <a:ext cx="2832199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>
            <a:extLst>
              <a:ext uri="{FF2B5EF4-FFF2-40B4-BE49-F238E27FC236}">
                <a16:creationId xmlns:a16="http://schemas.microsoft.com/office/drawing/2014/main" id="{CF9E8A8E-9C62-C668-5986-E774251A103B}"/>
              </a:ext>
            </a:extLst>
          </p:cNvPr>
          <p:cNvSpPr/>
          <p:nvPr/>
        </p:nvSpPr>
        <p:spPr>
          <a:xfrm>
            <a:off x="3422749" y="2848421"/>
            <a:ext cx="1800076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>
            <a:extLst>
              <a:ext uri="{FF2B5EF4-FFF2-40B4-BE49-F238E27FC236}">
                <a16:creationId xmlns:a16="http://schemas.microsoft.com/office/drawing/2014/main" id="{1D144D29-49B9-3A0A-3AE1-F8F57BAF10E1}"/>
              </a:ext>
            </a:extLst>
          </p:cNvPr>
          <p:cNvSpPr/>
          <p:nvPr/>
        </p:nvSpPr>
        <p:spPr>
          <a:xfrm>
            <a:off x="5222825" y="2848421"/>
            <a:ext cx="1758106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>
            <a:extLst>
              <a:ext uri="{FF2B5EF4-FFF2-40B4-BE49-F238E27FC236}">
                <a16:creationId xmlns:a16="http://schemas.microsoft.com/office/drawing/2014/main" id="{6411BDCA-FD40-21C7-B873-1045802FA1D7}"/>
              </a:ext>
            </a:extLst>
          </p:cNvPr>
          <p:cNvSpPr/>
          <p:nvPr/>
        </p:nvSpPr>
        <p:spPr>
          <a:xfrm>
            <a:off x="6980932" y="2848421"/>
            <a:ext cx="1464022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>
            <a:extLst>
              <a:ext uri="{FF2B5EF4-FFF2-40B4-BE49-F238E27FC236}">
                <a16:creationId xmlns:a16="http://schemas.microsoft.com/office/drawing/2014/main" id="{DC717953-4A8C-13C4-5D57-8DAFBFA0CD9E}"/>
              </a:ext>
            </a:extLst>
          </p:cNvPr>
          <p:cNvSpPr/>
          <p:nvPr/>
        </p:nvSpPr>
        <p:spPr>
          <a:xfrm>
            <a:off x="8444954" y="2848421"/>
            <a:ext cx="165601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>
            <a:extLst>
              <a:ext uri="{FF2B5EF4-FFF2-40B4-BE49-F238E27FC236}">
                <a16:creationId xmlns:a16="http://schemas.microsoft.com/office/drawing/2014/main" id="{5C4296A0-9C27-D3A1-0311-0199B9D9985F}"/>
              </a:ext>
            </a:extLst>
          </p:cNvPr>
          <p:cNvSpPr/>
          <p:nvPr/>
        </p:nvSpPr>
        <p:spPr>
          <a:xfrm>
            <a:off x="10100964" y="2848421"/>
            <a:ext cx="1500485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>
            <a:extLst>
              <a:ext uri="{FF2B5EF4-FFF2-40B4-BE49-F238E27FC236}">
                <a16:creationId xmlns:a16="http://schemas.microsoft.com/office/drawing/2014/main" id="{B6C1E3B0-D99E-957B-AEF2-98E07ECB0754}"/>
              </a:ext>
            </a:extLst>
          </p:cNvPr>
          <p:cNvSpPr/>
          <p:nvPr/>
        </p:nvSpPr>
        <p:spPr>
          <a:xfrm>
            <a:off x="590550" y="3372296"/>
            <a:ext cx="283219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>
            <a:extLst>
              <a:ext uri="{FF2B5EF4-FFF2-40B4-BE49-F238E27FC236}">
                <a16:creationId xmlns:a16="http://schemas.microsoft.com/office/drawing/2014/main" id="{0A81389B-E899-4F3C-C5AB-59E655203D8A}"/>
              </a:ext>
            </a:extLst>
          </p:cNvPr>
          <p:cNvSpPr/>
          <p:nvPr/>
        </p:nvSpPr>
        <p:spPr>
          <a:xfrm>
            <a:off x="3422749" y="3372296"/>
            <a:ext cx="18000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>
            <a:extLst>
              <a:ext uri="{FF2B5EF4-FFF2-40B4-BE49-F238E27FC236}">
                <a16:creationId xmlns:a16="http://schemas.microsoft.com/office/drawing/2014/main" id="{AE02413C-FD55-F04F-19FC-9D9B2D495C24}"/>
              </a:ext>
            </a:extLst>
          </p:cNvPr>
          <p:cNvSpPr/>
          <p:nvPr/>
        </p:nvSpPr>
        <p:spPr>
          <a:xfrm>
            <a:off x="5222825" y="3372296"/>
            <a:ext cx="1758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>
            <a:extLst>
              <a:ext uri="{FF2B5EF4-FFF2-40B4-BE49-F238E27FC236}">
                <a16:creationId xmlns:a16="http://schemas.microsoft.com/office/drawing/2014/main" id="{F6D49482-1EE3-1D0F-5949-8520CCEF37C9}"/>
              </a:ext>
            </a:extLst>
          </p:cNvPr>
          <p:cNvSpPr/>
          <p:nvPr/>
        </p:nvSpPr>
        <p:spPr>
          <a:xfrm>
            <a:off x="6980932" y="3372296"/>
            <a:ext cx="146402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>
            <a:extLst>
              <a:ext uri="{FF2B5EF4-FFF2-40B4-BE49-F238E27FC236}">
                <a16:creationId xmlns:a16="http://schemas.microsoft.com/office/drawing/2014/main" id="{6D7F9FBC-2E0A-9B22-B2C7-5EE0BE5A601F}"/>
              </a:ext>
            </a:extLst>
          </p:cNvPr>
          <p:cNvSpPr/>
          <p:nvPr/>
        </p:nvSpPr>
        <p:spPr>
          <a:xfrm>
            <a:off x="8444954" y="3372296"/>
            <a:ext cx="165601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>
            <a:extLst>
              <a:ext uri="{FF2B5EF4-FFF2-40B4-BE49-F238E27FC236}">
                <a16:creationId xmlns:a16="http://schemas.microsoft.com/office/drawing/2014/main" id="{B9B376B3-C49D-FD06-8773-524419F1E6C4}"/>
              </a:ext>
            </a:extLst>
          </p:cNvPr>
          <p:cNvSpPr/>
          <p:nvPr/>
        </p:nvSpPr>
        <p:spPr>
          <a:xfrm>
            <a:off x="10100964" y="3372296"/>
            <a:ext cx="150048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>
            <a:extLst>
              <a:ext uri="{FF2B5EF4-FFF2-40B4-BE49-F238E27FC236}">
                <a16:creationId xmlns:a16="http://schemas.microsoft.com/office/drawing/2014/main" id="{A4E517DF-D1E2-EA4F-9210-37F1C382F6D8}"/>
              </a:ext>
            </a:extLst>
          </p:cNvPr>
          <p:cNvSpPr/>
          <p:nvPr/>
        </p:nvSpPr>
        <p:spPr>
          <a:xfrm>
            <a:off x="590550" y="3886646"/>
            <a:ext cx="283219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>
            <a:extLst>
              <a:ext uri="{FF2B5EF4-FFF2-40B4-BE49-F238E27FC236}">
                <a16:creationId xmlns:a16="http://schemas.microsoft.com/office/drawing/2014/main" id="{88A28296-1A08-330B-0EC2-F22581F4AE75}"/>
              </a:ext>
            </a:extLst>
          </p:cNvPr>
          <p:cNvSpPr/>
          <p:nvPr/>
        </p:nvSpPr>
        <p:spPr>
          <a:xfrm>
            <a:off x="3422749" y="3886646"/>
            <a:ext cx="18000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>
            <a:extLst>
              <a:ext uri="{FF2B5EF4-FFF2-40B4-BE49-F238E27FC236}">
                <a16:creationId xmlns:a16="http://schemas.microsoft.com/office/drawing/2014/main" id="{38BF9C4D-33B8-AB17-DCA2-CBFD23CF75E4}"/>
              </a:ext>
            </a:extLst>
          </p:cNvPr>
          <p:cNvSpPr/>
          <p:nvPr/>
        </p:nvSpPr>
        <p:spPr>
          <a:xfrm>
            <a:off x="5222825" y="3886646"/>
            <a:ext cx="1758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>
            <a:extLst>
              <a:ext uri="{FF2B5EF4-FFF2-40B4-BE49-F238E27FC236}">
                <a16:creationId xmlns:a16="http://schemas.microsoft.com/office/drawing/2014/main" id="{AD9F4261-06EB-1839-6F51-8C977F8D2724}"/>
              </a:ext>
            </a:extLst>
          </p:cNvPr>
          <p:cNvSpPr/>
          <p:nvPr/>
        </p:nvSpPr>
        <p:spPr>
          <a:xfrm>
            <a:off x="6980932" y="3886646"/>
            <a:ext cx="146402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8E932442-F400-4182-D773-C764DEF59DD1}"/>
              </a:ext>
            </a:extLst>
          </p:cNvPr>
          <p:cNvSpPr/>
          <p:nvPr/>
        </p:nvSpPr>
        <p:spPr>
          <a:xfrm>
            <a:off x="8444954" y="3886646"/>
            <a:ext cx="165601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4A39DD81-E059-EBD6-2381-A64E34C7DAD4}"/>
              </a:ext>
            </a:extLst>
          </p:cNvPr>
          <p:cNvSpPr/>
          <p:nvPr/>
        </p:nvSpPr>
        <p:spPr>
          <a:xfrm>
            <a:off x="10100964" y="3886646"/>
            <a:ext cx="150048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>
            <a:extLst>
              <a:ext uri="{FF2B5EF4-FFF2-40B4-BE49-F238E27FC236}">
                <a16:creationId xmlns:a16="http://schemas.microsoft.com/office/drawing/2014/main" id="{CFA59D3A-FC04-3E32-AFFB-E09885C1BB8B}"/>
              </a:ext>
            </a:extLst>
          </p:cNvPr>
          <p:cNvSpPr/>
          <p:nvPr/>
        </p:nvSpPr>
        <p:spPr>
          <a:xfrm>
            <a:off x="590550" y="4396233"/>
            <a:ext cx="283219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>
            <a:extLst>
              <a:ext uri="{FF2B5EF4-FFF2-40B4-BE49-F238E27FC236}">
                <a16:creationId xmlns:a16="http://schemas.microsoft.com/office/drawing/2014/main" id="{26E4BF19-E5CE-AE8B-3DF5-4572BD54CB82}"/>
              </a:ext>
            </a:extLst>
          </p:cNvPr>
          <p:cNvSpPr/>
          <p:nvPr/>
        </p:nvSpPr>
        <p:spPr>
          <a:xfrm>
            <a:off x="3422749" y="4396233"/>
            <a:ext cx="18000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>
            <a:extLst>
              <a:ext uri="{FF2B5EF4-FFF2-40B4-BE49-F238E27FC236}">
                <a16:creationId xmlns:a16="http://schemas.microsoft.com/office/drawing/2014/main" id="{2D7E2200-317B-D149-8299-B6C22A99995E}"/>
              </a:ext>
            </a:extLst>
          </p:cNvPr>
          <p:cNvSpPr/>
          <p:nvPr/>
        </p:nvSpPr>
        <p:spPr>
          <a:xfrm>
            <a:off x="5222825" y="4396233"/>
            <a:ext cx="1758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>
            <a:extLst>
              <a:ext uri="{FF2B5EF4-FFF2-40B4-BE49-F238E27FC236}">
                <a16:creationId xmlns:a16="http://schemas.microsoft.com/office/drawing/2014/main" id="{153A66A6-19C3-EE23-1F6A-D8F87F629C33}"/>
              </a:ext>
            </a:extLst>
          </p:cNvPr>
          <p:cNvSpPr/>
          <p:nvPr/>
        </p:nvSpPr>
        <p:spPr>
          <a:xfrm>
            <a:off x="6980932" y="4396233"/>
            <a:ext cx="146402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>
            <a:extLst>
              <a:ext uri="{FF2B5EF4-FFF2-40B4-BE49-F238E27FC236}">
                <a16:creationId xmlns:a16="http://schemas.microsoft.com/office/drawing/2014/main" id="{61658007-929D-1861-FD90-6375030472F1}"/>
              </a:ext>
            </a:extLst>
          </p:cNvPr>
          <p:cNvSpPr/>
          <p:nvPr/>
        </p:nvSpPr>
        <p:spPr>
          <a:xfrm>
            <a:off x="8444954" y="4396233"/>
            <a:ext cx="165601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>
            <a:extLst>
              <a:ext uri="{FF2B5EF4-FFF2-40B4-BE49-F238E27FC236}">
                <a16:creationId xmlns:a16="http://schemas.microsoft.com/office/drawing/2014/main" id="{0E0DE832-4F49-AD26-69D4-139741178A6C}"/>
              </a:ext>
            </a:extLst>
          </p:cNvPr>
          <p:cNvSpPr/>
          <p:nvPr/>
        </p:nvSpPr>
        <p:spPr>
          <a:xfrm>
            <a:off x="10100964" y="4396233"/>
            <a:ext cx="150048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>
            <a:extLst>
              <a:ext uri="{FF2B5EF4-FFF2-40B4-BE49-F238E27FC236}">
                <a16:creationId xmlns:a16="http://schemas.microsoft.com/office/drawing/2014/main" id="{9EDA4D2A-0734-3C1E-C967-0BEBAB6F3D76}"/>
              </a:ext>
            </a:extLst>
          </p:cNvPr>
          <p:cNvSpPr txBox="1"/>
          <p:nvPr/>
        </p:nvSpPr>
        <p:spPr>
          <a:xfrm>
            <a:off x="723900" y="485775"/>
            <a:ext cx="1143142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Performances des 4 </a:t>
            </a:r>
            <a:r>
              <a:rPr lang="en-US" sz="27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Modèles</a:t>
            </a:r>
            <a:endParaRPr dirty="0"/>
          </a:p>
        </p:txBody>
      </p:sp>
      <p:sp>
        <p:nvSpPr>
          <p:cNvPr id="243" name="Google Shape;243;p21">
            <a:extLst>
              <a:ext uri="{FF2B5EF4-FFF2-40B4-BE49-F238E27FC236}">
                <a16:creationId xmlns:a16="http://schemas.microsoft.com/office/drawing/2014/main" id="{AD54C04A-8C3B-C0F9-9E76-040A7B1DEDDF}"/>
              </a:ext>
            </a:extLst>
          </p:cNvPr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1442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F07E9A07-F39F-3EDE-633A-94EFE54E1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0;p16" descr="image.png">
            <a:extLst>
              <a:ext uri="{FF2B5EF4-FFF2-40B4-BE49-F238E27FC236}">
                <a16:creationId xmlns:a16="http://schemas.microsoft.com/office/drawing/2014/main" id="{E78A001E-4678-651D-AB39-EE41009592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78DF5C90-F619-134D-6F51-6A60C6CECB5D}"/>
              </a:ext>
            </a:extLst>
          </p:cNvPr>
          <p:cNvSpPr txBox="1"/>
          <p:nvPr/>
        </p:nvSpPr>
        <p:spPr>
          <a:xfrm>
            <a:off x="6952910" y="2708547"/>
            <a:ext cx="4527890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MA" sz="1200" b="1" dirty="0">
                <a:solidFill>
                  <a:schemeClr val="bg1"/>
                </a:solidFill>
              </a:rPr>
              <a:t>MobileNetV2: </a:t>
            </a:r>
            <a:r>
              <a:rPr lang="fr-MA" sz="1200" dirty="0">
                <a:solidFill>
                  <a:srgbClr val="CBD5E1"/>
                </a:solidFill>
              </a:rPr>
              <a:t>possède une courbe presque parfaite avec une </a:t>
            </a:r>
            <a:r>
              <a:rPr lang="fr-MA" sz="1200" b="1" dirty="0">
                <a:solidFill>
                  <a:srgbClr val="CBD5E1"/>
                </a:solidFill>
              </a:rPr>
              <a:t>AUC de 0,9993</a:t>
            </a:r>
            <a:r>
              <a:rPr lang="fr-MA" sz="1200" dirty="0">
                <a:solidFill>
                  <a:srgbClr val="CBD5E1"/>
                </a:solidFill>
              </a:rPr>
              <a:t>, ce qui confirme son excellente capacité de discrimination. </a:t>
            </a:r>
          </a:p>
          <a:p>
            <a:endParaRPr lang="fr-MA" sz="1200" dirty="0">
              <a:solidFill>
                <a:srgbClr val="CBD5E1"/>
              </a:solidFill>
            </a:endParaRPr>
          </a:p>
          <a:p>
            <a:r>
              <a:rPr lang="fr-MA" sz="1200" b="1" dirty="0">
                <a:solidFill>
                  <a:schemeClr val="bg1"/>
                </a:solidFill>
              </a:rPr>
              <a:t>VGG16: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>
                <a:solidFill>
                  <a:srgbClr val="CBD5E1"/>
                </a:solidFill>
              </a:rPr>
              <a:t>présente également une très bonne courbe ROC (</a:t>
            </a:r>
            <a:r>
              <a:rPr lang="fr-MA" sz="1200" b="1" dirty="0">
                <a:solidFill>
                  <a:srgbClr val="CBD5E1"/>
                </a:solidFill>
              </a:rPr>
              <a:t>AUC = 0,9827</a:t>
            </a:r>
            <a:r>
              <a:rPr lang="fr-MA" sz="1200" dirty="0">
                <a:solidFill>
                  <a:srgbClr val="CBD5E1"/>
                </a:solidFill>
              </a:rPr>
              <a:t>) et offre de bonnes performances</a:t>
            </a:r>
            <a:r>
              <a:rPr lang="fr-MA" sz="1200" dirty="0">
                <a:solidFill>
                  <a:schemeClr val="bg1"/>
                </a:solidFill>
              </a:rPr>
              <a:t>. </a:t>
            </a:r>
          </a:p>
          <a:p>
            <a:endParaRPr lang="fr-MA" sz="1200" dirty="0">
              <a:solidFill>
                <a:schemeClr val="bg1"/>
              </a:solidFill>
            </a:endParaRPr>
          </a:p>
          <a:p>
            <a:r>
              <a:rPr lang="fr-MA" sz="1200" b="1" dirty="0">
                <a:solidFill>
                  <a:schemeClr val="bg1"/>
                </a:solidFill>
              </a:rPr>
              <a:t>ResNet50 :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>
                <a:solidFill>
                  <a:srgbClr val="CBD5E1"/>
                </a:solidFill>
              </a:rPr>
              <a:t>est plus proche de la diagonale (</a:t>
            </a:r>
            <a:r>
              <a:rPr lang="fr-MA" sz="1200" b="1" dirty="0">
                <a:solidFill>
                  <a:srgbClr val="CBD5E1"/>
                </a:solidFill>
              </a:rPr>
              <a:t>AUC = 0,6728</a:t>
            </a:r>
            <a:r>
              <a:rPr lang="fr-MA" sz="1200" dirty="0">
                <a:solidFill>
                  <a:srgbClr val="CBD5E1"/>
                </a:solidFill>
              </a:rPr>
              <a:t>), ce qui montre une capacité de classification plus limitée. </a:t>
            </a:r>
          </a:p>
          <a:p>
            <a:endParaRPr lang="fr-MA" sz="1200" dirty="0">
              <a:solidFill>
                <a:srgbClr val="CBD5E1"/>
              </a:solidFill>
            </a:endParaRPr>
          </a:p>
          <a:p>
            <a:r>
              <a:rPr lang="fr-MA" sz="1200" b="1" dirty="0">
                <a:solidFill>
                  <a:schemeClr val="bg1"/>
                </a:solidFill>
              </a:rPr>
              <a:t>EfficientNetB0: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>
                <a:solidFill>
                  <a:srgbClr val="CBD5E1"/>
                </a:solidFill>
              </a:rPr>
              <a:t>suit pratiquement la diagonale (</a:t>
            </a:r>
            <a:r>
              <a:rPr lang="fr-MA" sz="1200" b="1" dirty="0">
                <a:solidFill>
                  <a:srgbClr val="CBD5E1"/>
                </a:solidFill>
              </a:rPr>
              <a:t>AUC = 0,5000</a:t>
            </a:r>
            <a:r>
              <a:rPr lang="fr-MA" sz="1200" dirty="0">
                <a:solidFill>
                  <a:srgbClr val="CBD5E1"/>
                </a:solidFill>
              </a:rPr>
              <a:t>), indiquant qu'il ne discrimine pas correctement les deux classes dans cette configuration.</a:t>
            </a:r>
            <a:endParaRPr dirty="0">
              <a:solidFill>
                <a:srgbClr val="CBD5E1"/>
              </a:solidFill>
            </a:endParaRPr>
          </a:p>
        </p:txBody>
      </p:sp>
      <p:pic>
        <p:nvPicPr>
          <p:cNvPr id="170" name="Google Shape;170;p18" descr="image.png">
            <a:extLst>
              <a:ext uri="{FF2B5EF4-FFF2-40B4-BE49-F238E27FC236}">
                <a16:creationId xmlns:a16="http://schemas.microsoft.com/office/drawing/2014/main" id="{64216C15-3DE7-DF37-B5ED-76AB5679F2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19434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6E23D19E-B45D-CFF3-38C8-C8546A549498}"/>
              </a:ext>
            </a:extLst>
          </p:cNvPr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71;p18" descr="image.png">
            <a:extLst>
              <a:ext uri="{FF2B5EF4-FFF2-40B4-BE49-F238E27FC236}">
                <a16:creationId xmlns:a16="http://schemas.microsoft.com/office/drawing/2014/main" id="{A5CA0DB8-647D-E637-27DC-52B89DB6584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5229" y="3604931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47;p16">
            <a:extLst>
              <a:ext uri="{FF2B5EF4-FFF2-40B4-BE49-F238E27FC236}">
                <a16:creationId xmlns:a16="http://schemas.microsoft.com/office/drawing/2014/main" id="{E6D0D69D-C42B-8522-C0C2-523EA17B5342}"/>
              </a:ext>
            </a:extLst>
          </p:cNvPr>
          <p:cNvSpPr txBox="1"/>
          <p:nvPr/>
        </p:nvSpPr>
        <p:spPr>
          <a:xfrm>
            <a:off x="723900" y="485775"/>
            <a:ext cx="11431428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Evaluation des </a:t>
            </a:r>
            <a:r>
              <a:rPr lang="en-US" sz="27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modeles</a:t>
            </a:r>
            <a:r>
              <a:rPr lang="en-US" sz="27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7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B319140-6D88-1FB5-709F-A95DA59FA7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7" y="1595314"/>
            <a:ext cx="5873232" cy="420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86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/>
          <p:nvPr/>
        </p:nvSpPr>
        <p:spPr>
          <a:xfrm>
            <a:off x="5715000" y="2790825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1610439" y="3067050"/>
            <a:ext cx="897112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05 / </a:t>
            </a:r>
            <a:r>
              <a:rPr lang="en-US" sz="42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Analyse</a:t>
            </a:r>
            <a:r>
              <a:rPr lang="en-US" sz="42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dirty="0"/>
          </a:p>
        </p:txBody>
      </p:sp>
      <p:sp>
        <p:nvSpPr>
          <p:cNvPr id="209" name="Google Shape;209;p20"/>
          <p:cNvSpPr txBox="1"/>
          <p:nvPr/>
        </p:nvSpPr>
        <p:spPr>
          <a:xfrm>
            <a:off x="3471862" y="4019550"/>
            <a:ext cx="52482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Analyse</a:t>
            </a:r>
            <a:r>
              <a:rPr lang="en-US" sz="1500" b="0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des performances </a:t>
            </a:r>
            <a:r>
              <a:rPr lang="en-US" sz="1500" b="0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quantitatives</a:t>
            </a:r>
            <a:r>
              <a:rPr lang="en-US" sz="1500" b="0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sur le jeu de test </a:t>
            </a:r>
            <a:r>
              <a:rPr lang="en-US" sz="1500" b="0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binaire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723900" y="485775"/>
            <a:ext cx="11431428" cy="45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Analyse</a:t>
            </a:r>
            <a:endParaRPr dirty="0"/>
          </a:p>
        </p:txBody>
      </p:sp>
      <p:sp>
        <p:nvSpPr>
          <p:cNvPr id="251" name="Google Shape;251;p22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6D83FA9-0F81-9DBB-47D3-7FB5375CF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428598"/>
            <a:ext cx="4975230" cy="268730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7E1335A-2F3E-1130-8978-A4DF242693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31"/>
          <a:stretch>
            <a:fillRect/>
          </a:stretch>
        </p:blipFill>
        <p:spPr>
          <a:xfrm>
            <a:off x="628650" y="4082900"/>
            <a:ext cx="4975230" cy="201199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A0F4DA3-D7AB-B2AE-B7B7-61E0D5E263DF}"/>
              </a:ext>
            </a:extLst>
          </p:cNvPr>
          <p:cNvSpPr txBox="1"/>
          <p:nvPr/>
        </p:nvSpPr>
        <p:spPr>
          <a:xfrm>
            <a:off x="6439614" y="2561583"/>
            <a:ext cx="49752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MA" dirty="0">
              <a:solidFill>
                <a:schemeClr val="bg1"/>
              </a:solidFill>
            </a:endParaRPr>
          </a:p>
          <a:p>
            <a:r>
              <a:rPr lang="fr-MA" dirty="0">
                <a:solidFill>
                  <a:schemeClr val="bg1"/>
                </a:solidFill>
              </a:rPr>
              <a:t>Une image du jeu de test est sélectionnée. </a:t>
            </a:r>
          </a:p>
          <a:p>
            <a:endParaRPr lang="fr-MA" dirty="0">
              <a:solidFill>
                <a:schemeClr val="bg1"/>
              </a:solidFill>
            </a:endParaRPr>
          </a:p>
          <a:p>
            <a:r>
              <a:rPr lang="fr-MA" dirty="0">
                <a:solidFill>
                  <a:schemeClr val="bg1"/>
                </a:solidFill>
              </a:rPr>
              <a:t>Un modèle intermédiaire est créé afin d'extraire les </a:t>
            </a:r>
          </a:p>
          <a:p>
            <a:r>
              <a:rPr lang="fr-MA" dirty="0">
                <a:solidFill>
                  <a:schemeClr val="bg1"/>
                </a:solidFill>
              </a:rPr>
              <a:t>activations de la première couche </a:t>
            </a:r>
            <a:r>
              <a:rPr lang="fr-MA" dirty="0" err="1">
                <a:solidFill>
                  <a:schemeClr val="bg1"/>
                </a:solidFill>
              </a:rPr>
              <a:t>convolutionnelle</a:t>
            </a:r>
            <a:r>
              <a:rPr lang="fr-MA" dirty="0">
                <a:solidFill>
                  <a:schemeClr val="bg1"/>
                </a:solidFill>
              </a:rPr>
              <a:t> de </a:t>
            </a:r>
            <a:r>
              <a:rPr lang="fr-MA" b="1" dirty="0">
                <a:solidFill>
                  <a:schemeClr val="bg1"/>
                </a:solidFill>
              </a:rPr>
              <a:t>MobileNetV2</a:t>
            </a:r>
            <a:r>
              <a:rPr lang="fr-MA" dirty="0">
                <a:solidFill>
                  <a:schemeClr val="bg1"/>
                </a:solidFill>
              </a:rPr>
              <a:t>. </a:t>
            </a:r>
          </a:p>
          <a:p>
            <a:endParaRPr lang="fr-MA" dirty="0">
              <a:solidFill>
                <a:schemeClr val="bg1"/>
              </a:solidFill>
            </a:endParaRPr>
          </a:p>
          <a:p>
            <a:r>
              <a:rPr lang="fr-MA" dirty="0">
                <a:solidFill>
                  <a:schemeClr val="bg1"/>
                </a:solidFill>
              </a:rPr>
              <a:t>Les </a:t>
            </a:r>
            <a:r>
              <a:rPr lang="fr-MA" dirty="0" err="1">
                <a:solidFill>
                  <a:schemeClr val="bg1"/>
                </a:solidFill>
              </a:rPr>
              <a:t>Feature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Maps</a:t>
            </a:r>
            <a:r>
              <a:rPr lang="fr-MA" dirty="0">
                <a:solidFill>
                  <a:schemeClr val="bg1"/>
                </a:solidFill>
              </a:rPr>
              <a:t> permettent d'observer les caractéristiques détectées par les filtres du réseau. </a:t>
            </a:r>
          </a:p>
          <a:p>
            <a:endParaRPr lang="fr-MA" dirty="0">
              <a:solidFill>
                <a:schemeClr val="bg1"/>
              </a:solidFill>
            </a:endParaRPr>
          </a:p>
          <a:p>
            <a:r>
              <a:rPr lang="fr-MA" dirty="0">
                <a:solidFill>
                  <a:schemeClr val="bg1"/>
                </a:solidFill>
              </a:rPr>
              <a:t>Les premières couches mettent principalement en évidence les </a:t>
            </a:r>
            <a:r>
              <a:rPr lang="fr-MA" b="1" dirty="0">
                <a:solidFill>
                  <a:schemeClr val="bg1"/>
                </a:solidFill>
              </a:rPr>
              <a:t>contours</a:t>
            </a:r>
            <a:r>
              <a:rPr lang="fr-MA" dirty="0">
                <a:solidFill>
                  <a:schemeClr val="bg1"/>
                </a:solidFill>
              </a:rPr>
              <a:t>, les </a:t>
            </a:r>
            <a:r>
              <a:rPr lang="fr-MA" b="1" dirty="0">
                <a:solidFill>
                  <a:schemeClr val="bg1"/>
                </a:solidFill>
              </a:rPr>
              <a:t>textures</a:t>
            </a:r>
            <a:r>
              <a:rPr lang="fr-MA" dirty="0">
                <a:solidFill>
                  <a:schemeClr val="bg1"/>
                </a:solidFill>
              </a:rPr>
              <a:t> et les </a:t>
            </a:r>
            <a:r>
              <a:rPr lang="fr-MA" b="1" dirty="0">
                <a:solidFill>
                  <a:schemeClr val="bg1"/>
                </a:solidFill>
              </a:rPr>
              <a:t>variations de luminosité</a:t>
            </a:r>
            <a:r>
              <a:rPr lang="fr-MA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05533"/>
            <a:ext cx="2091630" cy="2014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15530" y="2605533"/>
            <a:ext cx="2091630" cy="2014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50035" y="2605533"/>
            <a:ext cx="2091779" cy="2014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84690" y="2605533"/>
            <a:ext cx="2091630" cy="2014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19195" y="2605533"/>
            <a:ext cx="2091779" cy="2014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5800" y="2977008"/>
            <a:ext cx="188208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20305" y="2977008"/>
            <a:ext cx="188208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54810" y="2977008"/>
            <a:ext cx="1882229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89465" y="2977008"/>
            <a:ext cx="188208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23970" y="2977008"/>
            <a:ext cx="1882229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1025" y="1101030"/>
            <a:ext cx="11029950" cy="527119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581025" y="2186433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Premières activations convolutives de MobileNetV2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38747" y="2710308"/>
            <a:ext cx="1976184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Image Originale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85800" y="4358133"/>
            <a:ext cx="1882080" cy="15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Canaux RGB complets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2873253" y="2710308"/>
            <a:ext cx="1976184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Feature Map 1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2920305" y="4358133"/>
            <a:ext cx="1882080" cy="15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Détection diagonale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5107755" y="2710308"/>
            <a:ext cx="197634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Feature Map 2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5154810" y="4358133"/>
            <a:ext cx="1882229" cy="15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Filtre de textures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7342413" y="2710308"/>
            <a:ext cx="1976184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Feature Map 3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7389465" y="4358133"/>
            <a:ext cx="1882080" cy="15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Bords horizontaux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9576914" y="2710308"/>
            <a:ext cx="197634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Feature Map 4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9623970" y="4358133"/>
            <a:ext cx="1882229" cy="15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Hauts contrastes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723900" y="485775"/>
            <a:ext cx="1143142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Visualisation des Feature Maps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7EFD9A-BD58-8847-DD74-94D6EC9D5F7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799" y="3005583"/>
            <a:ext cx="1882081" cy="131669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22083FC-8DBF-CCED-6C04-4DDEA559338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4143"/>
          <a:stretch>
            <a:fillRect/>
          </a:stretch>
        </p:blipFill>
        <p:spPr>
          <a:xfrm>
            <a:off x="2920303" y="2924890"/>
            <a:ext cx="1882079" cy="138561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5A7F47A-239D-24B4-6855-5401E8DA976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12871" b="12871"/>
          <a:stretch/>
        </p:blipFill>
        <p:spPr>
          <a:xfrm>
            <a:off x="5112098" y="2924890"/>
            <a:ext cx="1924941" cy="138561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0DFE6C1-1A41-158A-537B-C1ACA7DBEA2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12718" r="3711" b="12718"/>
          <a:stretch>
            <a:fillRect/>
          </a:stretch>
        </p:blipFill>
        <p:spPr>
          <a:xfrm>
            <a:off x="7418042" y="2948433"/>
            <a:ext cx="1853504" cy="138561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DE23F4A3-B214-BBCE-A36D-35EBE47B506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4197" b="14197"/>
          <a:stretch/>
        </p:blipFill>
        <p:spPr>
          <a:xfrm>
            <a:off x="9638332" y="2936661"/>
            <a:ext cx="1853504" cy="13856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278133FA-50C4-988E-60E0-AD116ADE6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 descr="image.png">
            <a:extLst>
              <a:ext uri="{FF2B5EF4-FFF2-40B4-BE49-F238E27FC236}">
                <a16:creationId xmlns:a16="http://schemas.microsoft.com/office/drawing/2014/main" id="{5B6A447F-864F-1574-4158-CA5B37F8D0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>
            <a:extLst>
              <a:ext uri="{FF2B5EF4-FFF2-40B4-BE49-F238E27FC236}">
                <a16:creationId xmlns:a16="http://schemas.microsoft.com/office/drawing/2014/main" id="{36B294C0-9BBA-2731-F854-354D53C24DB8}"/>
              </a:ext>
            </a:extLst>
          </p:cNvPr>
          <p:cNvSpPr txBox="1"/>
          <p:nvPr/>
        </p:nvSpPr>
        <p:spPr>
          <a:xfrm>
            <a:off x="1022555" y="2928108"/>
            <a:ext cx="970443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fr-MA" sz="1800" dirty="0">
                <a:solidFill>
                  <a:srgbClr val="CBD5E1"/>
                </a:solidFill>
              </a:rPr>
              <a:t>En conclusion, ce TP nous a permis de valider l'incroyable efficacité du Transfer Learning, en particulier avec MobileNetV2 qui offre des performances industrielles tout en restant très léger en calcul. </a:t>
            </a:r>
            <a:endParaRPr sz="1800" dirty="0">
              <a:solidFill>
                <a:srgbClr val="CBD5E1"/>
              </a:solidFill>
            </a:endParaRPr>
          </a:p>
        </p:txBody>
      </p:sp>
      <p:sp>
        <p:nvSpPr>
          <p:cNvPr id="3" name="Google Shape;250;p22">
            <a:extLst>
              <a:ext uri="{FF2B5EF4-FFF2-40B4-BE49-F238E27FC236}">
                <a16:creationId xmlns:a16="http://schemas.microsoft.com/office/drawing/2014/main" id="{5A212E1E-1A36-B5C4-3675-A11EC9E433C2}"/>
              </a:ext>
            </a:extLst>
          </p:cNvPr>
          <p:cNvSpPr txBox="1"/>
          <p:nvPr/>
        </p:nvSpPr>
        <p:spPr>
          <a:xfrm>
            <a:off x="723900" y="485775"/>
            <a:ext cx="11431428" cy="45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dirty="0"/>
          </a:p>
        </p:txBody>
      </p:sp>
      <p:sp>
        <p:nvSpPr>
          <p:cNvPr id="5" name="Google Shape;251;p22">
            <a:extLst>
              <a:ext uri="{FF2B5EF4-FFF2-40B4-BE49-F238E27FC236}">
                <a16:creationId xmlns:a16="http://schemas.microsoft.com/office/drawing/2014/main" id="{4C29EA22-ABFB-8D9F-34E8-5821EBF1152D}"/>
              </a:ext>
            </a:extLst>
          </p:cNvPr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0648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/>
          <p:nvPr/>
        </p:nvSpPr>
        <p:spPr>
          <a:xfrm>
            <a:off x="203676" y="2741295"/>
            <a:ext cx="1158144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Merci pour </a:t>
            </a:r>
            <a:r>
              <a:rPr lang="en-US" sz="45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votre</a:t>
            </a:r>
            <a:r>
              <a:rPr lang="en-US" sz="45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attention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1031</Words>
  <Application>Microsoft Office PowerPoint</Application>
  <PresentationFormat>Grand écran</PresentationFormat>
  <Paragraphs>120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Lato</vt:lpstr>
      <vt:lpstr>Calibri</vt:lpstr>
      <vt:lpstr>Poppins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Fatima Zahrae Zaim</cp:lastModifiedBy>
  <cp:revision>11</cp:revision>
  <dcterms:modified xsi:type="dcterms:W3CDTF">2026-07-12T10:55:13Z</dcterms:modified>
</cp:coreProperties>
</file>